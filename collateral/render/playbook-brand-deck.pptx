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8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3" name="Shape 1"/>
          <p:cNvSpPr/>
          <p:nvPr/>
        </p:nvSpPr>
        <p:spPr>
          <a:xfrm>
            <a:off x="6089904" y="0"/>
            <a:ext cx="6099048" cy="50292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4059936" y="0"/>
            <a:ext cx="4069080" cy="50292"/>
          </a:xfrm>
          <a:prstGeom prst="rect">
            <a:avLst/>
          </a:prstGeom>
          <a:solidFill>
            <a:srgbClr val="FF8A5C"/>
          </a:solidFill>
          <a:ln/>
        </p:spPr>
      </p:sp>
      <p:sp>
        <p:nvSpPr>
          <p:cNvPr id="5" name="Shape 3"/>
          <p:cNvSpPr/>
          <p:nvPr/>
        </p:nvSpPr>
        <p:spPr>
          <a:xfrm>
            <a:off x="5074920" y="0"/>
            <a:ext cx="3054096" cy="50292"/>
          </a:xfrm>
          <a:prstGeom prst="rect">
            <a:avLst/>
          </a:prstGeom>
          <a:solidFill>
            <a:srgbClr val="047857"/>
          </a:solidFill>
          <a:ln/>
        </p:spPr>
      </p:sp>
      <p:sp>
        <p:nvSpPr>
          <p:cNvPr id="6" name="Text 4"/>
          <p:cNvSpPr/>
          <p:nvPr/>
        </p:nvSpPr>
        <p:spPr>
          <a:xfrm>
            <a:off x="0" y="1828800"/>
            <a:ext cx="1218895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Playbook RG</a:t>
            </a:r>
            <a:endParaRPr lang="en-US" sz="6400" dirty="0"/>
          </a:p>
        </p:txBody>
      </p:sp>
      <p:sp>
        <p:nvSpPr>
          <p:cNvPr id="7" name="Text 5"/>
          <p:cNvSpPr/>
          <p:nvPr/>
        </p:nvSpPr>
        <p:spPr>
          <a:xfrm>
            <a:off x="0" y="2926080"/>
            <a:ext cx="121889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0B98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Brand Overview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1371600" y="3749040"/>
            <a:ext cx="94457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8A8C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Gambling Entertainment Literacy — A White-Label Brand System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0" y="5303520"/>
            <a:ext cx="121889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B6B8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 ·  Social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A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B28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3" name="Shape 1"/>
          <p:cNvSpPr/>
          <p:nvPr/>
        </p:nvSpPr>
        <p:spPr>
          <a:xfrm>
            <a:off x="6089904" y="0"/>
            <a:ext cx="6099048" cy="50292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4059936" y="0"/>
            <a:ext cx="4069080" cy="50292"/>
          </a:xfrm>
          <a:prstGeom prst="rect">
            <a:avLst/>
          </a:prstGeom>
          <a:solidFill>
            <a:srgbClr val="FF8A5C"/>
          </a:solidFill>
          <a:ln/>
        </p:spPr>
      </p:sp>
      <p:sp>
        <p:nvSpPr>
          <p:cNvPr id="5" name="Shape 3"/>
          <p:cNvSpPr/>
          <p:nvPr/>
        </p:nvSpPr>
        <p:spPr>
          <a:xfrm>
            <a:off x="5074920" y="0"/>
            <a:ext cx="3054096" cy="50292"/>
          </a:xfrm>
          <a:prstGeom prst="rect">
            <a:avLst/>
          </a:prstGeom>
          <a:solidFill>
            <a:srgbClr val="047857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457200"/>
            <a:ext cx="1072591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Engagement Gap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731520" y="11887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8A8C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Current player education is failing — not because the information is wrong, but because nobody reads it.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31520" y="210312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6B3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EXISTS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31520" y="2606040"/>
            <a:ext cx="4846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A8C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→  Clinical, compliance-driven language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31520" y="3044952"/>
            <a:ext cx="4846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A8C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→  Buried in page footers and legal disclaimers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31520" y="3483864"/>
            <a:ext cx="4846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A8C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→  One-size-fits-all messaging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31520" y="3922776"/>
            <a:ext cx="4846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A8C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→  Treated as a regulatory checkbox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731520" y="4361688"/>
            <a:ext cx="4846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A8C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→  Near-zero player engagement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92240" y="210312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B98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WHAT'S NEEDED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492240" y="2606040"/>
            <a:ext cx="4846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A8C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→  Entertainment-grade production quality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492240" y="3044952"/>
            <a:ext cx="4846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A8C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→  Integrated into the player experience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492240" y="3483864"/>
            <a:ext cx="4846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A8C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→  Marketing-driven, not compliance-driven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492240" y="3922776"/>
            <a:ext cx="4846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A8C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→  Personalized and shareable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492240" y="4361688"/>
            <a:ext cx="4846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A8C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→  Content players actually seek out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089904" y="2103120"/>
            <a:ext cx="0" cy="2926080"/>
          </a:xfrm>
          <a:prstGeom prst="line">
            <a:avLst/>
          </a:prstGeom>
          <a:noFill/>
          <a:ln w="12700">
            <a:solidFill>
              <a:srgbClr val="2A3F5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A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B28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3" name="Shape 1"/>
          <p:cNvSpPr/>
          <p:nvPr/>
        </p:nvSpPr>
        <p:spPr>
          <a:xfrm>
            <a:off x="6089904" y="0"/>
            <a:ext cx="6099048" cy="50292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4059936" y="0"/>
            <a:ext cx="4069080" cy="50292"/>
          </a:xfrm>
          <a:prstGeom prst="rect">
            <a:avLst/>
          </a:prstGeom>
          <a:solidFill>
            <a:srgbClr val="FF8A5C"/>
          </a:solidFill>
          <a:ln/>
        </p:spPr>
      </p:sp>
      <p:sp>
        <p:nvSpPr>
          <p:cNvPr id="5" name="Shape 3"/>
          <p:cNvSpPr/>
          <p:nvPr/>
        </p:nvSpPr>
        <p:spPr>
          <a:xfrm>
            <a:off x="5074920" y="0"/>
            <a:ext cx="3054096" cy="50292"/>
          </a:xfrm>
          <a:prstGeom prst="rect">
            <a:avLst/>
          </a:prstGeom>
          <a:solidFill>
            <a:srgbClr val="047857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457200"/>
            <a:ext cx="1072591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Player Education That Players Actually Want</a:t>
            </a:r>
            <a:endParaRPr lang="en-US" sz="3600" dirty="0"/>
          </a:p>
        </p:txBody>
      </p:sp>
      <p:sp>
        <p:nvSpPr>
          <p:cNvPr id="7" name="Shape 5"/>
          <p:cNvSpPr/>
          <p:nvPr/>
        </p:nvSpPr>
        <p:spPr>
          <a:xfrm>
            <a:off x="731520" y="1645920"/>
            <a:ext cx="3383280" cy="3840480"/>
          </a:xfrm>
          <a:prstGeom prst="roundRect">
            <a:avLst>
              <a:gd name="adj" fmla="val 3243"/>
            </a:avLst>
          </a:prstGeom>
          <a:solidFill>
            <a:srgbClr val="2A3F56"/>
          </a:solidFill>
          <a:ln/>
        </p:spPr>
      </p:sp>
      <p:sp>
        <p:nvSpPr>
          <p:cNvPr id="8" name="Shape 6"/>
          <p:cNvSpPr/>
          <p:nvPr/>
        </p:nvSpPr>
        <p:spPr>
          <a:xfrm>
            <a:off x="777240" y="1645920"/>
            <a:ext cx="3291840" cy="4572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9" name="Text 7"/>
          <p:cNvSpPr/>
          <p:nvPr/>
        </p:nvSpPr>
        <p:spPr>
          <a:xfrm>
            <a:off x="1005840" y="2011680"/>
            <a:ext cx="2834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Woven In, Not Bolted On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005840" y="2834640"/>
            <a:ext cx="283464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A8A8C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Literacy content integrated into the player journey — deposit screens, game lobbies, post-session recaps. Not a buried link in the footer.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389120" y="1645920"/>
            <a:ext cx="3383280" cy="3840480"/>
          </a:xfrm>
          <a:prstGeom prst="roundRect">
            <a:avLst>
              <a:gd name="adj" fmla="val 3243"/>
            </a:avLst>
          </a:prstGeom>
          <a:solidFill>
            <a:srgbClr val="2A3F56"/>
          </a:solidFill>
          <a:ln/>
        </p:spPr>
      </p:sp>
      <p:sp>
        <p:nvSpPr>
          <p:cNvPr id="12" name="Shape 10"/>
          <p:cNvSpPr/>
          <p:nvPr/>
        </p:nvSpPr>
        <p:spPr>
          <a:xfrm>
            <a:off x="4434840" y="1645920"/>
            <a:ext cx="3291840" cy="45720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13" name="Text 11"/>
          <p:cNvSpPr/>
          <p:nvPr/>
        </p:nvSpPr>
        <p:spPr>
          <a:xfrm>
            <a:off x="4663440" y="2011680"/>
            <a:ext cx="2834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Entertainment-Grade Quality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663440" y="2834640"/>
            <a:ext cx="283464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A8A8C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Social cards, interactive quizzes, myth-buster stories. Produced at the same quality as the gaming product itself.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046720" y="1645920"/>
            <a:ext cx="3383280" cy="3840480"/>
          </a:xfrm>
          <a:prstGeom prst="roundRect">
            <a:avLst>
              <a:gd name="adj" fmla="val 3243"/>
            </a:avLst>
          </a:prstGeom>
          <a:solidFill>
            <a:srgbClr val="2A3F56"/>
          </a:solidFill>
          <a:ln/>
        </p:spPr>
      </p:sp>
      <p:sp>
        <p:nvSpPr>
          <p:cNvPr id="16" name="Shape 14"/>
          <p:cNvSpPr/>
          <p:nvPr/>
        </p:nvSpPr>
        <p:spPr>
          <a:xfrm>
            <a:off x="8092440" y="1645920"/>
            <a:ext cx="3291840" cy="4572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7" name="Text 15"/>
          <p:cNvSpPr/>
          <p:nvPr/>
        </p:nvSpPr>
        <p:spPr>
          <a:xfrm>
            <a:off x="8321040" y="2011680"/>
            <a:ext cx="2834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White-Label: Your Brand, Our System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8321040" y="2834640"/>
            <a:ext cx="283464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A8A8C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Fork the repo. Edit one config file. Deploy under your brand. Open source, CC0 Public Domain — no licensing, no fees.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A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B28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3" name="Shape 1"/>
          <p:cNvSpPr/>
          <p:nvPr/>
        </p:nvSpPr>
        <p:spPr>
          <a:xfrm>
            <a:off x="6089904" y="0"/>
            <a:ext cx="6099048" cy="50292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4059936" y="0"/>
            <a:ext cx="4069080" cy="50292"/>
          </a:xfrm>
          <a:prstGeom prst="rect">
            <a:avLst/>
          </a:prstGeom>
          <a:solidFill>
            <a:srgbClr val="FF8A5C"/>
          </a:solidFill>
          <a:ln/>
        </p:spPr>
      </p:sp>
      <p:sp>
        <p:nvSpPr>
          <p:cNvPr id="5" name="Shape 3"/>
          <p:cNvSpPr/>
          <p:nvPr/>
        </p:nvSpPr>
        <p:spPr>
          <a:xfrm>
            <a:off x="5074920" y="0"/>
            <a:ext cx="3054096" cy="50292"/>
          </a:xfrm>
          <a:prstGeom prst="rect">
            <a:avLst/>
          </a:prstGeom>
          <a:solidFill>
            <a:srgbClr val="047857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457200"/>
            <a:ext cx="1072591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Two Brand Pillars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731520" y="11430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8A8C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Every piece of content maps to one or both pillars.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731520" y="1828800"/>
            <a:ext cx="4937760" cy="4114800"/>
          </a:xfrm>
          <a:prstGeom prst="roundRect">
            <a:avLst>
              <a:gd name="adj" fmla="val 2667"/>
            </a:avLst>
          </a:prstGeom>
          <a:solidFill>
            <a:srgbClr val="2A3F56"/>
          </a:solidFill>
          <a:ln/>
        </p:spPr>
      </p:sp>
      <p:sp>
        <p:nvSpPr>
          <p:cNvPr id="9" name="Shape 7"/>
          <p:cNvSpPr/>
          <p:nvPr/>
        </p:nvSpPr>
        <p:spPr>
          <a:xfrm>
            <a:off x="1097280" y="2194560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2194560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283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097280" y="2743200"/>
            <a:ext cx="4206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i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"No fine print."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097280" y="3291840"/>
            <a:ext cx="420624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A8A8C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Transparency is the product. Real odds, honest math,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A8A8C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no buried disclaimers.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A8A8C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• House edge disclosure for every game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A8A8C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• Myth vs. math content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A8A8C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• Plain-language odds breakdowns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A8A8C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• Bonus wagering explained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400800" y="1828800"/>
            <a:ext cx="4937760" cy="4114800"/>
          </a:xfrm>
          <a:prstGeom prst="roundRect">
            <a:avLst>
              <a:gd name="adj" fmla="val 2667"/>
            </a:avLst>
          </a:prstGeom>
          <a:solidFill>
            <a:srgbClr val="2A3F56"/>
          </a:solidFill>
          <a:ln/>
        </p:spPr>
      </p:sp>
      <p:sp>
        <p:nvSpPr>
          <p:cNvPr id="14" name="Shape 12"/>
          <p:cNvSpPr/>
          <p:nvPr/>
        </p:nvSpPr>
        <p:spPr>
          <a:xfrm>
            <a:off x="6766560" y="2194560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/>
        </p:spPr>
      </p:sp>
      <p:sp>
        <p:nvSpPr>
          <p:cNvPr id="15" name="Text 13"/>
          <p:cNvSpPr/>
          <p:nvPr/>
        </p:nvSpPr>
        <p:spPr>
          <a:xfrm>
            <a:off x="6766560" y="2194560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283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SOCIAL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766560" y="2743200"/>
            <a:ext cx="4206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i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"Worth sharing."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6766560" y="3291840"/>
            <a:ext cx="420624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A8A8C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Knowledge becomes social currency.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A8A8C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Peer learning beats top-down lectures.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A8A8C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• Game IQ quizzes and challenges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A8A8C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• Shareable myth-buster cards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A8A8C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• Friend vs. friend leaderboards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A8A8C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• Community-driven content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A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28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3" name="Shape 1"/>
          <p:cNvSpPr/>
          <p:nvPr/>
        </p:nvSpPr>
        <p:spPr>
          <a:xfrm>
            <a:off x="6089904" y="0"/>
            <a:ext cx="6099048" cy="50292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4059936" y="0"/>
            <a:ext cx="4069080" cy="50292"/>
          </a:xfrm>
          <a:prstGeom prst="rect">
            <a:avLst/>
          </a:prstGeom>
          <a:solidFill>
            <a:srgbClr val="FF8A5C"/>
          </a:solidFill>
          <a:ln/>
        </p:spPr>
      </p:sp>
      <p:sp>
        <p:nvSpPr>
          <p:cNvPr id="5" name="Shape 3"/>
          <p:cNvSpPr/>
          <p:nvPr/>
        </p:nvSpPr>
        <p:spPr>
          <a:xfrm>
            <a:off x="5074920" y="0"/>
            <a:ext cx="3054096" cy="50292"/>
          </a:xfrm>
          <a:prstGeom prst="rect">
            <a:avLst/>
          </a:prstGeom>
          <a:solidFill>
            <a:srgbClr val="047857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457200"/>
            <a:ext cx="1072591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Brand Personality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731520" y="13716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B98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PLAYBOOK VOICE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31520" y="16916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B8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Primary Archetype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210312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friend who knows the game.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731520" y="283464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Confident, not condescending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31520" y="3090672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A8C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Shares knowledge because they respect you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31520" y="347472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Specific, not sloganeering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731520" y="3730752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A8C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"The house edge on American roulette is 5.26%"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31520" y="411480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Corrects without judgment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31520" y="4370832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A8C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Myth-busting without making you feel stupid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731520" y="475488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Treats gambling as entertainment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731520" y="5010912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A8C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Neither pro- nor anti-gambling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400800" y="1645920"/>
            <a:ext cx="5029200" cy="2194560"/>
          </a:xfrm>
          <a:prstGeom prst="roundRect">
            <a:avLst>
              <a:gd name="adj" fmla="val 5000"/>
            </a:avLst>
          </a:prstGeom>
          <a:solidFill>
            <a:srgbClr val="2A3F56"/>
          </a:solidFill>
          <a:ln/>
        </p:spPr>
      </p:sp>
      <p:sp>
        <p:nvSpPr>
          <p:cNvPr id="19" name="Shape 17"/>
          <p:cNvSpPr/>
          <p:nvPr/>
        </p:nvSpPr>
        <p:spPr>
          <a:xfrm>
            <a:off x="6400800" y="1645920"/>
            <a:ext cx="54864" cy="219456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6766560" y="1920240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PLAYBOOK VOICE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766560" y="2286000"/>
            <a:ext cx="43891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800" i="1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"Set your deposit limit.</a:t>
            </a:r>
            <a:endParaRPr lang="en-US" sz="18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800" i="1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It takes 10 seconds.</a:t>
            </a:r>
            <a:endParaRPr lang="en-US" sz="18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800" i="1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Go on, we'll wait."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6400800" y="4206240"/>
            <a:ext cx="5029200" cy="1828800"/>
          </a:xfrm>
          <a:prstGeom prst="roundRect">
            <a:avLst>
              <a:gd name="adj" fmla="val 6000"/>
            </a:avLst>
          </a:prstGeom>
          <a:solidFill>
            <a:srgbClr val="2A3F56"/>
          </a:solidFill>
          <a:ln/>
        </p:spPr>
      </p:sp>
      <p:sp>
        <p:nvSpPr>
          <p:cNvPr id="23" name="Shape 21"/>
          <p:cNvSpPr/>
          <p:nvPr/>
        </p:nvSpPr>
        <p:spPr>
          <a:xfrm>
            <a:off x="6400800" y="4206240"/>
            <a:ext cx="54864" cy="1828800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24" name="Text 22"/>
          <p:cNvSpPr/>
          <p:nvPr/>
        </p:nvSpPr>
        <p:spPr>
          <a:xfrm>
            <a:off x="6766560" y="4434840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6B3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SUPPORT VOICE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766560" y="4754880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A8A8C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Warm, supportive register.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A8A8C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Steps in for Tier 2 (support/crisis) content.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766560" y="530352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"No judgment. Just here if you need us."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A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3" name="Shape 1"/>
          <p:cNvSpPr/>
          <p:nvPr/>
        </p:nvSpPr>
        <p:spPr>
          <a:xfrm>
            <a:off x="6089904" y="0"/>
            <a:ext cx="6099048" cy="50292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4059936" y="0"/>
            <a:ext cx="4069080" cy="50292"/>
          </a:xfrm>
          <a:prstGeom prst="rect">
            <a:avLst/>
          </a:prstGeom>
          <a:solidFill>
            <a:srgbClr val="FF8A5C"/>
          </a:solidFill>
          <a:ln/>
        </p:spPr>
      </p:sp>
      <p:sp>
        <p:nvSpPr>
          <p:cNvPr id="5" name="Shape 3"/>
          <p:cNvSpPr/>
          <p:nvPr/>
        </p:nvSpPr>
        <p:spPr>
          <a:xfrm>
            <a:off x="5074920" y="0"/>
            <a:ext cx="3054096" cy="50292"/>
          </a:xfrm>
          <a:prstGeom prst="rect">
            <a:avLst/>
          </a:prstGeom>
          <a:solidFill>
            <a:srgbClr val="047857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457200"/>
            <a:ext cx="1072591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Color Palette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731520" y="10972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B8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All combinations tested for WCAG 2.1 AA contrast compliance.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31520" y="1828800"/>
            <a:ext cx="1920240" cy="2286000"/>
          </a:xfrm>
          <a:prstGeom prst="roundRect">
            <a:avLst>
              <a:gd name="adj" fmla="val 5714"/>
            </a:avLst>
          </a:prstGeom>
          <a:solidFill>
            <a:srgbClr val="1B2838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011680"/>
            <a:ext cx="1920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Primary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Deep Navy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31520" y="347472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#1B2838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2926080" y="1828800"/>
            <a:ext cx="1920240" cy="2286000"/>
          </a:xfrm>
          <a:prstGeom prst="roundRect">
            <a:avLst>
              <a:gd name="adj" fmla="val 5714"/>
            </a:avLst>
          </a:prstGeom>
          <a:solidFill>
            <a:srgbClr val="2A3F56"/>
          </a:solidFill>
          <a:ln/>
        </p:spPr>
      </p:sp>
      <p:sp>
        <p:nvSpPr>
          <p:cNvPr id="12" name="Text 10"/>
          <p:cNvSpPr/>
          <p:nvPr/>
        </p:nvSpPr>
        <p:spPr>
          <a:xfrm>
            <a:off x="2926080" y="2011680"/>
            <a:ext cx="1920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Primary Light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926080" y="347472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#2A3F56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120640" y="1828800"/>
            <a:ext cx="1920240" cy="2286000"/>
          </a:xfrm>
          <a:prstGeom prst="roundRect">
            <a:avLst>
              <a:gd name="adj" fmla="val 5714"/>
            </a:avLst>
          </a:prstGeom>
          <a:solidFill>
            <a:srgbClr val="0F1923"/>
          </a:solidFill>
          <a:ln/>
        </p:spPr>
      </p:sp>
      <p:sp>
        <p:nvSpPr>
          <p:cNvPr id="15" name="Text 13"/>
          <p:cNvSpPr/>
          <p:nvPr/>
        </p:nvSpPr>
        <p:spPr>
          <a:xfrm>
            <a:off x="5120640" y="2011680"/>
            <a:ext cx="1920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Primary Dark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Midnight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120640" y="347472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#0F1923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315200" y="1828800"/>
            <a:ext cx="1920240" cy="2286000"/>
          </a:xfrm>
          <a:prstGeom prst="roundRect">
            <a:avLst>
              <a:gd name="adj" fmla="val 5714"/>
            </a:avLst>
          </a:prstGeom>
          <a:solidFill>
            <a:srgbClr val="10B981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0" y="2011680"/>
            <a:ext cx="1920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83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Secondary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B283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Emerald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315200" y="347472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2838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#10B981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9509760" y="1828800"/>
            <a:ext cx="1920240" cy="2286000"/>
          </a:xfrm>
          <a:prstGeom prst="roundRect">
            <a:avLst>
              <a:gd name="adj" fmla="val 5714"/>
            </a:avLst>
          </a:prstGeom>
          <a:solidFill>
            <a:srgbClr val="FF6B35"/>
          </a:solidFill>
          <a:ln/>
        </p:spPr>
      </p:sp>
      <p:sp>
        <p:nvSpPr>
          <p:cNvPr id="21" name="Text 19"/>
          <p:cNvSpPr/>
          <p:nvPr/>
        </p:nvSpPr>
        <p:spPr>
          <a:xfrm>
            <a:off x="9509760" y="2011680"/>
            <a:ext cx="1920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Accent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Bold Orange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9509760" y="347472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#FF6B35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731520" y="45720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6B8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NEUTRAL SCALE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731520" y="5029200"/>
            <a:ext cx="1463040" cy="914400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 w="6350">
            <a:solidFill>
              <a:srgbClr val="E8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1520" y="598932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B8A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#1A1A2E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2468880" y="5029200"/>
            <a:ext cx="1463040" cy="914400"/>
          </a:xfrm>
          <a:prstGeom prst="roundRect">
            <a:avLst>
              <a:gd name="adj" fmla="val 8000"/>
            </a:avLst>
          </a:prstGeom>
          <a:solidFill>
            <a:srgbClr val="3D3D5C"/>
          </a:solidFill>
          <a:ln w="6350">
            <a:solidFill>
              <a:srgbClr val="E8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468880" y="598932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B8A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#3D3D5C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206240" y="5029200"/>
            <a:ext cx="1463040" cy="914400"/>
          </a:xfrm>
          <a:prstGeom prst="roundRect">
            <a:avLst>
              <a:gd name="adj" fmla="val 8000"/>
            </a:avLst>
          </a:prstGeom>
          <a:solidFill>
            <a:srgbClr val="6B6B8A"/>
          </a:solidFill>
          <a:ln w="6350">
            <a:solidFill>
              <a:srgbClr val="E8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206240" y="598932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B8A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#6B6B8A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943600" y="5029200"/>
            <a:ext cx="1463040" cy="914400"/>
          </a:xfrm>
          <a:prstGeom prst="roundRect">
            <a:avLst>
              <a:gd name="adj" fmla="val 8000"/>
            </a:avLst>
          </a:prstGeom>
          <a:solidFill>
            <a:srgbClr val="A8A8C0"/>
          </a:solidFill>
          <a:ln w="6350">
            <a:solidFill>
              <a:srgbClr val="E8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943600" y="598932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B8A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#A8A8C0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680960" y="5029200"/>
            <a:ext cx="1463040" cy="914400"/>
          </a:xfrm>
          <a:prstGeom prst="roundRect">
            <a:avLst>
              <a:gd name="adj" fmla="val 8000"/>
            </a:avLst>
          </a:prstGeom>
          <a:solidFill>
            <a:srgbClr val="E8E8F0"/>
          </a:solidFill>
          <a:ln w="6350">
            <a:solidFill>
              <a:srgbClr val="E8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680960" y="598932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B8A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#E8E8F0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9418320" y="5029200"/>
            <a:ext cx="1463040" cy="914400"/>
          </a:xfrm>
          <a:prstGeom prst="roundRect">
            <a:avLst>
              <a:gd name="adj" fmla="val 8000"/>
            </a:avLst>
          </a:prstGeom>
          <a:solidFill>
            <a:srgbClr val="F5F5FA"/>
          </a:solidFill>
          <a:ln w="6350">
            <a:solidFill>
              <a:srgbClr val="E8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418320" y="598932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B8A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#F5F5FA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A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3" name="Shape 1"/>
          <p:cNvSpPr/>
          <p:nvPr/>
        </p:nvSpPr>
        <p:spPr>
          <a:xfrm>
            <a:off x="6089904" y="0"/>
            <a:ext cx="6099048" cy="50292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4059936" y="0"/>
            <a:ext cx="4069080" cy="50292"/>
          </a:xfrm>
          <a:prstGeom prst="rect">
            <a:avLst/>
          </a:prstGeom>
          <a:solidFill>
            <a:srgbClr val="FF8A5C"/>
          </a:solidFill>
          <a:ln/>
        </p:spPr>
      </p:sp>
      <p:sp>
        <p:nvSpPr>
          <p:cNvPr id="5" name="Shape 3"/>
          <p:cNvSpPr/>
          <p:nvPr/>
        </p:nvSpPr>
        <p:spPr>
          <a:xfrm>
            <a:off x="5074920" y="0"/>
            <a:ext cx="3054096" cy="50292"/>
          </a:xfrm>
          <a:prstGeom prst="rect">
            <a:avLst/>
          </a:prstGeom>
          <a:solidFill>
            <a:srgbClr val="047857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457200"/>
            <a:ext cx="1072591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Typography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731520" y="14630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6B8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HEADINGS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178308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731520" y="22860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B8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400 Regular  ·  600 Semi  ·  700 Bold  ·  800 Extra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31520" y="269748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game has math. Here's yours.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731520" y="34747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6B8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BODY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31520" y="379476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2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Source Sans 3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731520" y="42976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B8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300 Light  ·  400 Regular  ·  600 Semi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31520" y="4663440"/>
            <a:ext cx="6400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500" dirty="0">
                <a:solidFill>
                  <a:srgbClr val="3D3D5C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Your brain sees patterns. The math doesn't. Each spin is statistically independent — the machine has no memory of previous results.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858000" y="146304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6B8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/ STATS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858000" y="178308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2E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Source Code Pro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6858000" y="22860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B8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400 Regular  ·  600 Semi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858000" y="2743200"/>
            <a:ext cx="4389120" cy="2560320"/>
          </a:xfrm>
          <a:prstGeom prst="roundRect">
            <a:avLst>
              <a:gd name="adj" fmla="val 4286"/>
            </a:avLst>
          </a:prstGeom>
          <a:solidFill>
            <a:srgbClr val="1B2838"/>
          </a:solidFill>
          <a:ln/>
        </p:spPr>
      </p:sp>
      <p:sp>
        <p:nvSpPr>
          <p:cNvPr id="19" name="Text 17"/>
          <p:cNvSpPr/>
          <p:nvPr/>
        </p:nvSpPr>
        <p:spPr>
          <a:xfrm>
            <a:off x="7132320" y="301752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$110 in  →  $100 out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7132320" y="356616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0B981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0.5%  ·  2.7%  ·  5.26%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7132320" y="411480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6B35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1-800-522-4700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7132320" y="4572000"/>
            <a:ext cx="3840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8A8C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Monospace signals factual,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8A8C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precise information — stats,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8A8C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odds, and helpline numbers.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731520" y="5669280"/>
            <a:ext cx="10725912" cy="548640"/>
          </a:xfrm>
          <a:prstGeom prst="roundRect">
            <a:avLst>
              <a:gd name="adj" fmla="val 10000"/>
            </a:avLst>
          </a:prstGeom>
          <a:solidFill>
            <a:srgbClr val="F5F5FA"/>
          </a:solidFill>
          <a:ln/>
        </p:spPr>
      </p:sp>
      <p:sp>
        <p:nvSpPr>
          <p:cNvPr id="24" name="Text 22"/>
          <p:cNvSpPr/>
          <p:nvPr/>
        </p:nvSpPr>
        <p:spPr>
          <a:xfrm>
            <a:off x="914400" y="5669280"/>
            <a:ext cx="103601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6B8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Min body: 16px digital, 10pt print   ·   Helpline numbers always in monospace bold   ·   All fonts open source (Google Fonts)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A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B28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3" name="Shape 1"/>
          <p:cNvSpPr/>
          <p:nvPr/>
        </p:nvSpPr>
        <p:spPr>
          <a:xfrm>
            <a:off x="6089904" y="0"/>
            <a:ext cx="6099048" cy="50292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4059936" y="0"/>
            <a:ext cx="4069080" cy="50292"/>
          </a:xfrm>
          <a:prstGeom prst="rect">
            <a:avLst/>
          </a:prstGeom>
          <a:solidFill>
            <a:srgbClr val="FF8A5C"/>
          </a:solidFill>
          <a:ln/>
        </p:spPr>
      </p:sp>
      <p:sp>
        <p:nvSpPr>
          <p:cNvPr id="5" name="Shape 3"/>
          <p:cNvSpPr/>
          <p:nvPr/>
        </p:nvSpPr>
        <p:spPr>
          <a:xfrm>
            <a:off x="5074920" y="0"/>
            <a:ext cx="3054096" cy="50292"/>
          </a:xfrm>
          <a:prstGeom prst="rect">
            <a:avLst/>
          </a:prstGeom>
          <a:solidFill>
            <a:srgbClr val="047857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457200"/>
            <a:ext cx="1072591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Voice &amp; Tone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731520" y="10972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8A8C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Specific, not sloganeering. Every word earns its place.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31520" y="173736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B98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 SAY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00800" y="173736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6B3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 DON'T SAY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089904" y="1737360"/>
            <a:ext cx="0" cy="4297680"/>
          </a:xfrm>
          <a:prstGeom prst="line">
            <a:avLst/>
          </a:prstGeom>
          <a:noFill/>
          <a:ln w="12700">
            <a:solidFill>
              <a:srgbClr val="2A3F5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240280"/>
            <a:ext cx="11091672" cy="457200"/>
          </a:xfrm>
          <a:prstGeom prst="rect">
            <a:avLst/>
          </a:prstGeom>
          <a:solidFill>
            <a:srgbClr val="2A3F56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2240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Player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400800" y="2240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strike="sngStrike" dirty="0">
                <a:solidFill>
                  <a:srgbClr val="6B6B8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Gambler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731520" y="274320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Specific behaviors — e.g. 'set a budget', 'know the odds', 'check your session'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400800" y="274320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strike="sngStrike" dirty="0">
                <a:solidFill>
                  <a:srgbClr val="6B6B8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Responsible gambling' or 'smart play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solidFill>
            <a:srgbClr val="2A3F56"/>
          </a:solidFill>
          <a:ln/>
        </p:spPr>
      </p:sp>
      <p:sp>
        <p:nvSpPr>
          <p:cNvPr id="17" name="Text 15"/>
          <p:cNvSpPr/>
          <p:nvPr/>
        </p:nvSpPr>
        <p:spPr>
          <a:xfrm>
            <a:off x="731520" y="324612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Tools / features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400800" y="324612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strike="sngStrike" dirty="0">
                <a:solidFill>
                  <a:srgbClr val="6B6B8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Interventions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731520" y="374904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Check in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400800" y="374904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strike="sngStrike" dirty="0">
                <a:solidFill>
                  <a:srgbClr val="6B6B8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Self-assess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548640" y="4251960"/>
            <a:ext cx="11091672" cy="457200"/>
          </a:xfrm>
          <a:prstGeom prst="rect">
            <a:avLst/>
          </a:prstGeom>
          <a:solidFill>
            <a:srgbClr val="2A3F56"/>
          </a:solidFill>
          <a:ln/>
        </p:spPr>
      </p:sp>
      <p:sp>
        <p:nvSpPr>
          <p:cNvPr id="22" name="Text 20"/>
          <p:cNvSpPr/>
          <p:nvPr/>
        </p:nvSpPr>
        <p:spPr>
          <a:xfrm>
            <a:off x="731520" y="425196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Take a break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400800" y="425196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strike="sngStrike" dirty="0">
                <a:solidFill>
                  <a:srgbClr val="6B6B8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Self-exclude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731520" y="47548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Your limits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400800" y="47548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strike="sngStrike" dirty="0">
                <a:solidFill>
                  <a:srgbClr val="6B6B8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Restrictions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A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B28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3" name="Shape 1"/>
          <p:cNvSpPr/>
          <p:nvPr/>
        </p:nvSpPr>
        <p:spPr>
          <a:xfrm>
            <a:off x="6089904" y="0"/>
            <a:ext cx="6099048" cy="50292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4059936" y="0"/>
            <a:ext cx="4069080" cy="50292"/>
          </a:xfrm>
          <a:prstGeom prst="rect">
            <a:avLst/>
          </a:prstGeom>
          <a:solidFill>
            <a:srgbClr val="FF8A5C"/>
          </a:solidFill>
          <a:ln/>
        </p:spPr>
      </p:sp>
      <p:sp>
        <p:nvSpPr>
          <p:cNvPr id="5" name="Shape 3"/>
          <p:cNvSpPr/>
          <p:nvPr/>
        </p:nvSpPr>
        <p:spPr>
          <a:xfrm>
            <a:off x="5074920" y="0"/>
            <a:ext cx="3054096" cy="50292"/>
          </a:xfrm>
          <a:prstGeom prst="rect">
            <a:avLst/>
          </a:prstGeom>
          <a:solidFill>
            <a:srgbClr val="047857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457200"/>
            <a:ext cx="1072591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Messaging Framework</a:t>
            </a:r>
            <a:endParaRPr lang="en-US" sz="3600" dirty="0"/>
          </a:p>
        </p:txBody>
      </p:sp>
      <p:sp>
        <p:nvSpPr>
          <p:cNvPr id="7" name="Shape 5"/>
          <p:cNvSpPr/>
          <p:nvPr/>
        </p:nvSpPr>
        <p:spPr>
          <a:xfrm>
            <a:off x="731520" y="1463040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463040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283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31520" y="196596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"Here's how it actually works."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731520" y="24688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"No fine print. Just facts."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731520" y="297180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"The odds are public. Now you know them."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731520" y="347472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"Every game has math. Here's yours."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6400800" y="1463040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0" y="1463040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283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SOCIAL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400800" y="196596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"Share the facts."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6400800" y="24688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"Challenge your friends."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6400800" y="297180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"The best players know the game."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6400800" y="347472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"How well do you really know the odds?"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6089904" y="1463040"/>
            <a:ext cx="0" cy="2743200"/>
          </a:xfrm>
          <a:prstGeom prst="line">
            <a:avLst/>
          </a:prstGeom>
          <a:noFill/>
          <a:ln w="12700">
            <a:solidFill>
              <a:srgbClr val="2A3F5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31520" y="4572000"/>
            <a:ext cx="10725912" cy="1645920"/>
          </a:xfrm>
          <a:prstGeom prst="roundRect">
            <a:avLst>
              <a:gd name="adj" fmla="val 6667"/>
            </a:avLst>
          </a:prstGeom>
          <a:solidFill>
            <a:srgbClr val="2A3F56"/>
          </a:solidFill>
          <a:ln/>
        </p:spPr>
      </p:sp>
      <p:sp>
        <p:nvSpPr>
          <p:cNvPr id="21" name="Text 19"/>
          <p:cNvSpPr/>
          <p:nvPr/>
        </p:nvSpPr>
        <p:spPr>
          <a:xfrm>
            <a:off x="1097280" y="4754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TWO-TIER CONTENT MODEL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097280" y="516636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Tier 1 — 95%  Entertainment Literacy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097280" y="548640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A8C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Odds, myths, how games work. Voice: Playbook voice. Engaging, shareable, fun.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400800" y="516636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Tier 2 — 5%  Support &amp; Crisis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400800" y="548640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A8C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Helplines, self-assessment, cooling off. Voice: support voice. Warm, non-judgmental.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A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B28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3" name="Shape 1"/>
          <p:cNvSpPr/>
          <p:nvPr/>
        </p:nvSpPr>
        <p:spPr>
          <a:xfrm>
            <a:off x="6089904" y="0"/>
            <a:ext cx="6099048" cy="50292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4059936" y="0"/>
            <a:ext cx="4069080" cy="50292"/>
          </a:xfrm>
          <a:prstGeom prst="rect">
            <a:avLst/>
          </a:prstGeom>
          <a:solidFill>
            <a:srgbClr val="FF8A5C"/>
          </a:solidFill>
          <a:ln/>
        </p:spPr>
      </p:sp>
      <p:sp>
        <p:nvSpPr>
          <p:cNvPr id="5" name="Shape 3"/>
          <p:cNvSpPr/>
          <p:nvPr/>
        </p:nvSpPr>
        <p:spPr>
          <a:xfrm>
            <a:off x="5074920" y="0"/>
            <a:ext cx="3054096" cy="50292"/>
          </a:xfrm>
          <a:prstGeom prst="rect">
            <a:avLst/>
          </a:prstGeom>
          <a:solidFill>
            <a:srgbClr val="047857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457200"/>
            <a:ext cx="1072591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Collateral System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731520" y="10972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8A8C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Every touchpoint gets equal design investment.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828800"/>
            <a:ext cx="2011680" cy="3840480"/>
          </a:xfrm>
          <a:prstGeom prst="roundRect">
            <a:avLst>
              <a:gd name="adj" fmla="val 5455"/>
            </a:avLst>
          </a:prstGeom>
          <a:solidFill>
            <a:srgbClr val="2A3F56"/>
          </a:solidFill>
          <a:ln/>
        </p:spPr>
      </p:sp>
      <p:sp>
        <p:nvSpPr>
          <p:cNvPr id="9" name="Shape 7"/>
          <p:cNvSpPr/>
          <p:nvPr/>
        </p:nvSpPr>
        <p:spPr>
          <a:xfrm>
            <a:off x="640080" y="2103120"/>
            <a:ext cx="1645920" cy="1463040"/>
          </a:xfrm>
          <a:prstGeom prst="roundRect">
            <a:avLst>
              <a:gd name="adj" fmla="val 5000"/>
            </a:avLst>
          </a:prstGeom>
          <a:solidFill>
            <a:srgbClr val="0F1923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286000"/>
            <a:ext cx="16459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2A3F56"/>
                </a:solidFill>
              </a:rPr>
              <a:t>◻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640080" y="374904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Social Cards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40080" y="406908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B981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Instagram Feed 1080×1080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4480560"/>
            <a:ext cx="1645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8A8C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Myth-busters, odds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8A8C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infographics, stat cards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2743200" y="1828800"/>
            <a:ext cx="2011680" cy="3840480"/>
          </a:xfrm>
          <a:prstGeom prst="roundRect">
            <a:avLst>
              <a:gd name="adj" fmla="val 5455"/>
            </a:avLst>
          </a:prstGeom>
          <a:solidFill>
            <a:srgbClr val="2A3F56"/>
          </a:solidFill>
          <a:ln/>
        </p:spPr>
      </p:sp>
      <p:sp>
        <p:nvSpPr>
          <p:cNvPr id="15" name="Shape 13"/>
          <p:cNvSpPr/>
          <p:nvPr/>
        </p:nvSpPr>
        <p:spPr>
          <a:xfrm>
            <a:off x="2926080" y="2103120"/>
            <a:ext cx="1645920" cy="1463040"/>
          </a:xfrm>
          <a:prstGeom prst="roundRect">
            <a:avLst>
              <a:gd name="adj" fmla="val 5000"/>
            </a:avLst>
          </a:prstGeom>
          <a:solidFill>
            <a:srgbClr val="0F1923"/>
          </a:solidFill>
          <a:ln/>
        </p:spPr>
      </p:sp>
      <p:sp>
        <p:nvSpPr>
          <p:cNvPr id="16" name="Text 14"/>
          <p:cNvSpPr/>
          <p:nvPr/>
        </p:nvSpPr>
        <p:spPr>
          <a:xfrm>
            <a:off x="2926080" y="2286000"/>
            <a:ext cx="16459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2A3F56"/>
                </a:solidFill>
              </a:rPr>
              <a:t>▯</a:t>
            </a:r>
            <a:endParaRPr lang="en-US" sz="3600" dirty="0"/>
          </a:p>
        </p:txBody>
      </p:sp>
      <p:sp>
        <p:nvSpPr>
          <p:cNvPr id="17" name="Text 15"/>
          <p:cNvSpPr/>
          <p:nvPr/>
        </p:nvSpPr>
        <p:spPr>
          <a:xfrm>
            <a:off x="2926080" y="374904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Stories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2926080" y="406908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B981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Instagram/TikTok 1080×1920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2926080" y="4480560"/>
            <a:ext cx="1645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8A8C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Quick myths, house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8A8C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edge breakdowns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029200" y="1828800"/>
            <a:ext cx="2011680" cy="3840480"/>
          </a:xfrm>
          <a:prstGeom prst="roundRect">
            <a:avLst>
              <a:gd name="adj" fmla="val 5455"/>
            </a:avLst>
          </a:prstGeom>
          <a:solidFill>
            <a:srgbClr val="2A3F56"/>
          </a:solidFill>
          <a:ln/>
        </p:spPr>
      </p:sp>
      <p:sp>
        <p:nvSpPr>
          <p:cNvPr id="21" name="Shape 19"/>
          <p:cNvSpPr/>
          <p:nvPr/>
        </p:nvSpPr>
        <p:spPr>
          <a:xfrm>
            <a:off x="5212080" y="2103120"/>
            <a:ext cx="1645920" cy="1463040"/>
          </a:xfrm>
          <a:prstGeom prst="roundRect">
            <a:avLst>
              <a:gd name="adj" fmla="val 5000"/>
            </a:avLst>
          </a:prstGeom>
          <a:solidFill>
            <a:srgbClr val="0F1923"/>
          </a:solidFill>
          <a:ln/>
        </p:spPr>
      </p:sp>
      <p:sp>
        <p:nvSpPr>
          <p:cNvPr id="22" name="Text 20"/>
          <p:cNvSpPr/>
          <p:nvPr/>
        </p:nvSpPr>
        <p:spPr>
          <a:xfrm>
            <a:off x="5212080" y="2286000"/>
            <a:ext cx="16459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2A3F56"/>
                </a:solidFill>
              </a:rPr>
              <a:t>▮</a:t>
            </a:r>
            <a:endParaRPr lang="en-US" sz="3600" dirty="0"/>
          </a:p>
        </p:txBody>
      </p:sp>
      <p:sp>
        <p:nvSpPr>
          <p:cNvPr id="23" name="Text 21"/>
          <p:cNvSpPr/>
          <p:nvPr/>
        </p:nvSpPr>
        <p:spPr>
          <a:xfrm>
            <a:off x="5212080" y="374904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Posters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5212080" y="406908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B981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A2 / 18×24"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212080" y="4480560"/>
            <a:ext cx="1645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8A8C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Venue awareness,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8A8C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event signage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7315200" y="1828800"/>
            <a:ext cx="2011680" cy="3840480"/>
          </a:xfrm>
          <a:prstGeom prst="roundRect">
            <a:avLst>
              <a:gd name="adj" fmla="val 5455"/>
            </a:avLst>
          </a:prstGeom>
          <a:solidFill>
            <a:srgbClr val="2A3F56"/>
          </a:solidFill>
          <a:ln/>
        </p:spPr>
      </p:sp>
      <p:sp>
        <p:nvSpPr>
          <p:cNvPr id="27" name="Shape 25"/>
          <p:cNvSpPr/>
          <p:nvPr/>
        </p:nvSpPr>
        <p:spPr>
          <a:xfrm>
            <a:off x="7498080" y="2103120"/>
            <a:ext cx="1645920" cy="1463040"/>
          </a:xfrm>
          <a:prstGeom prst="roundRect">
            <a:avLst>
              <a:gd name="adj" fmla="val 5000"/>
            </a:avLst>
          </a:prstGeom>
          <a:solidFill>
            <a:srgbClr val="0F1923"/>
          </a:solidFill>
          <a:ln/>
        </p:spPr>
      </p:sp>
      <p:sp>
        <p:nvSpPr>
          <p:cNvPr id="28" name="Text 26"/>
          <p:cNvSpPr/>
          <p:nvPr/>
        </p:nvSpPr>
        <p:spPr>
          <a:xfrm>
            <a:off x="7498080" y="2286000"/>
            <a:ext cx="16459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2A3F56"/>
                </a:solidFill>
              </a:rPr>
              <a:t>✉</a:t>
            </a:r>
            <a:endParaRPr lang="en-US" sz="3600" dirty="0"/>
          </a:p>
        </p:txBody>
      </p:sp>
      <p:sp>
        <p:nvSpPr>
          <p:cNvPr id="29" name="Text 27"/>
          <p:cNvSpPr/>
          <p:nvPr/>
        </p:nvSpPr>
        <p:spPr>
          <a:xfrm>
            <a:off x="7498080" y="374904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Emails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7498080" y="406908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B981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Responsive HTML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7498080" y="4480560"/>
            <a:ext cx="1645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8A8C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Onboarding, weekly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8A8C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summaries, nudges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9601200" y="1828800"/>
            <a:ext cx="2011680" cy="3840480"/>
          </a:xfrm>
          <a:prstGeom prst="roundRect">
            <a:avLst>
              <a:gd name="adj" fmla="val 5455"/>
            </a:avLst>
          </a:prstGeom>
          <a:solidFill>
            <a:srgbClr val="2A3F56"/>
          </a:solidFill>
          <a:ln/>
        </p:spPr>
      </p:sp>
      <p:sp>
        <p:nvSpPr>
          <p:cNvPr id="33" name="Shape 31"/>
          <p:cNvSpPr/>
          <p:nvPr/>
        </p:nvSpPr>
        <p:spPr>
          <a:xfrm>
            <a:off x="9784080" y="2103120"/>
            <a:ext cx="1645920" cy="1463040"/>
          </a:xfrm>
          <a:prstGeom prst="roundRect">
            <a:avLst>
              <a:gd name="adj" fmla="val 5000"/>
            </a:avLst>
          </a:prstGeom>
          <a:solidFill>
            <a:srgbClr val="0F1923"/>
          </a:solidFill>
          <a:ln/>
        </p:spPr>
      </p:sp>
      <p:sp>
        <p:nvSpPr>
          <p:cNvPr id="34" name="Text 32"/>
          <p:cNvSpPr/>
          <p:nvPr/>
        </p:nvSpPr>
        <p:spPr>
          <a:xfrm>
            <a:off x="9784080" y="2286000"/>
            <a:ext cx="16459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2A3F56"/>
                </a:solidFill>
              </a:rPr>
              <a:t>⊞</a:t>
            </a:r>
            <a:endParaRPr lang="en-US" sz="3600" dirty="0"/>
          </a:p>
        </p:txBody>
      </p:sp>
      <p:sp>
        <p:nvSpPr>
          <p:cNvPr id="35" name="Text 33"/>
          <p:cNvSpPr/>
          <p:nvPr/>
        </p:nvSpPr>
        <p:spPr>
          <a:xfrm>
            <a:off x="9784080" y="374904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UI Components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9784080" y="406908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B981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In-App Widgets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9784080" y="4480560"/>
            <a:ext cx="1645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8A8C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Deposit limits, session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8A8C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timers, quizzes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A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28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3" name="Shape 1"/>
          <p:cNvSpPr/>
          <p:nvPr/>
        </p:nvSpPr>
        <p:spPr>
          <a:xfrm>
            <a:off x="6089904" y="0"/>
            <a:ext cx="6099048" cy="50292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4059936" y="0"/>
            <a:ext cx="4069080" cy="50292"/>
          </a:xfrm>
          <a:prstGeom prst="rect">
            <a:avLst/>
          </a:prstGeom>
          <a:solidFill>
            <a:srgbClr val="FF8A5C"/>
          </a:solidFill>
          <a:ln/>
        </p:spPr>
      </p:sp>
      <p:sp>
        <p:nvSpPr>
          <p:cNvPr id="5" name="Shape 3"/>
          <p:cNvSpPr/>
          <p:nvPr/>
        </p:nvSpPr>
        <p:spPr>
          <a:xfrm>
            <a:off x="5074920" y="0"/>
            <a:ext cx="3054096" cy="50292"/>
          </a:xfrm>
          <a:prstGeom prst="rect">
            <a:avLst/>
          </a:prstGeom>
          <a:solidFill>
            <a:srgbClr val="047857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457200"/>
            <a:ext cx="1072591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Brand. Our System.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731520" y="10972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8A8C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One config file. Infinite operator brands.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731520" y="1828800"/>
            <a:ext cx="3474720" cy="2286000"/>
          </a:xfrm>
          <a:prstGeom prst="roundRect">
            <a:avLst>
              <a:gd name="adj" fmla="val 4800"/>
            </a:avLst>
          </a:prstGeom>
          <a:solidFill>
            <a:srgbClr val="1B2838"/>
          </a:solidFill>
          <a:ln w="6350">
            <a:solidFill>
              <a:srgbClr val="2A3F5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77240" y="1828800"/>
            <a:ext cx="3383280" cy="36576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1005840" y="210312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LuckyDraw Casino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1005840" y="2560320"/>
            <a:ext cx="640080" cy="201168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1005840" y="2560320"/>
            <a:ext cx="640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B283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1005840" y="292608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6B3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Know your game →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005840" y="329184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A8C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Same layout pattern.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A8A8C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Different brand.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480560" y="1828800"/>
            <a:ext cx="3474720" cy="2286000"/>
          </a:xfrm>
          <a:prstGeom prst="roundRect">
            <a:avLst>
              <a:gd name="adj" fmla="val 4800"/>
            </a:avLst>
          </a:prstGeom>
          <a:solidFill>
            <a:srgbClr val="1A1A2E"/>
          </a:solidFill>
          <a:ln w="6350">
            <a:solidFill>
              <a:srgbClr val="2A3F5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26280" y="1828800"/>
            <a:ext cx="3383280" cy="36576"/>
          </a:xfrm>
          <a:prstGeom prst="rect">
            <a:avLst/>
          </a:prstGeom>
          <a:solidFill>
            <a:srgbClr val="7C6AFF"/>
          </a:solidFill>
          <a:ln/>
        </p:spPr>
      </p:sp>
      <p:sp>
        <p:nvSpPr>
          <p:cNvPr id="17" name="Text 15"/>
          <p:cNvSpPr/>
          <p:nvPr/>
        </p:nvSpPr>
        <p:spPr>
          <a:xfrm>
            <a:off x="4754880" y="210312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BetSmart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754880" y="2560320"/>
            <a:ext cx="640080" cy="201168"/>
          </a:xfrm>
          <a:prstGeom prst="roundRect">
            <a:avLst>
              <a:gd name="adj" fmla="val 50000"/>
            </a:avLst>
          </a:prstGeom>
          <a:solidFill>
            <a:srgbClr val="7C6AFF"/>
          </a:solidFill>
          <a:ln/>
        </p:spPr>
      </p:sp>
      <p:sp>
        <p:nvSpPr>
          <p:cNvPr id="19" name="Text 17"/>
          <p:cNvSpPr/>
          <p:nvPr/>
        </p:nvSpPr>
        <p:spPr>
          <a:xfrm>
            <a:off x="4754880" y="2560320"/>
            <a:ext cx="640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4754880" y="292608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4D6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Know your game →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754880" y="329184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A8C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Same layout pattern.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A8A8C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Different brand.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8229600" y="1828800"/>
            <a:ext cx="3474720" cy="2286000"/>
          </a:xfrm>
          <a:prstGeom prst="roundRect">
            <a:avLst>
              <a:gd name="adj" fmla="val 4800"/>
            </a:avLst>
          </a:prstGeom>
          <a:solidFill>
            <a:srgbClr val="0D2818"/>
          </a:solidFill>
          <a:ln w="6350">
            <a:solidFill>
              <a:srgbClr val="2A3F5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275320" y="1828800"/>
            <a:ext cx="3383280" cy="36576"/>
          </a:xfrm>
          <a:prstGeom prst="rect">
            <a:avLst/>
          </a:prstGeom>
          <a:solidFill>
            <a:srgbClr val="4ADE80"/>
          </a:solidFill>
          <a:ln/>
        </p:spPr>
      </p:sp>
      <p:sp>
        <p:nvSpPr>
          <p:cNvPr id="24" name="Text 22"/>
          <p:cNvSpPr/>
          <p:nvPr/>
        </p:nvSpPr>
        <p:spPr>
          <a:xfrm>
            <a:off x="8503920" y="210312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GreenField Gaming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8503920" y="2560320"/>
            <a:ext cx="640080" cy="201168"/>
          </a:xfrm>
          <a:prstGeom prst="roundRect">
            <a:avLst>
              <a:gd name="adj" fmla="val 50000"/>
            </a:avLst>
          </a:prstGeom>
          <a:solidFill>
            <a:srgbClr val="4ADE80"/>
          </a:solidFill>
          <a:ln/>
        </p:spPr>
      </p:sp>
      <p:sp>
        <p:nvSpPr>
          <p:cNvPr id="26" name="Text 24"/>
          <p:cNvSpPr/>
          <p:nvPr/>
        </p:nvSpPr>
        <p:spPr>
          <a:xfrm>
            <a:off x="8503920" y="2560320"/>
            <a:ext cx="640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D28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8503920" y="292608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ACC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Know your game →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8503920" y="329184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A8C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Same layout pattern.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A8A8C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Different brand.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731520" y="457200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6B3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CUSTOMIZE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731520" y="498348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A8C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→  Colors and gradients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731520" y="5330952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A8C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→  Fonts and type scale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731520" y="5678424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A8C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→  Logo and program name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731520" y="6025896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A8C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→  Taglines and CTA copy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731520" y="6373368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A8C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→  Helpline numbers and jurisdiction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6400800" y="457200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B98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KEEP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6400800" y="498348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A8C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→  Layout patterns and hierarchy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6400800" y="5330952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A8C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→  Voice framework and tone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6400800" y="5678424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A8C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→  Content structure (pillars, tiers)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6400800" y="6025896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A8C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→  Accessibility standards (WCAG 2.1 AA)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6400800" y="6373368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A8C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→  Proven engagement patterns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A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28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3" name="Shape 1"/>
          <p:cNvSpPr/>
          <p:nvPr/>
        </p:nvSpPr>
        <p:spPr>
          <a:xfrm>
            <a:off x="6089904" y="0"/>
            <a:ext cx="6099048" cy="50292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4059936" y="0"/>
            <a:ext cx="4069080" cy="50292"/>
          </a:xfrm>
          <a:prstGeom prst="rect">
            <a:avLst/>
          </a:prstGeom>
          <a:solidFill>
            <a:srgbClr val="FF8A5C"/>
          </a:solidFill>
          <a:ln/>
        </p:spPr>
      </p:sp>
      <p:sp>
        <p:nvSpPr>
          <p:cNvPr id="5" name="Shape 3"/>
          <p:cNvSpPr/>
          <p:nvPr/>
        </p:nvSpPr>
        <p:spPr>
          <a:xfrm>
            <a:off x="5074920" y="0"/>
            <a:ext cx="3054096" cy="50292"/>
          </a:xfrm>
          <a:prstGeom prst="rect">
            <a:avLst/>
          </a:prstGeom>
          <a:solidFill>
            <a:srgbClr val="047857"/>
          </a:solidFill>
          <a:ln/>
        </p:spPr>
      </p:sp>
      <p:sp>
        <p:nvSpPr>
          <p:cNvPr id="6" name="Text 4"/>
          <p:cNvSpPr/>
          <p:nvPr/>
        </p:nvSpPr>
        <p:spPr>
          <a:xfrm>
            <a:off x="0" y="731520"/>
            <a:ext cx="1218895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Start Building.</a:t>
            </a:r>
            <a:endParaRPr lang="en-US" sz="4400" dirty="0"/>
          </a:p>
        </p:txBody>
      </p:sp>
      <p:sp>
        <p:nvSpPr>
          <p:cNvPr id="7" name="Shape 5"/>
          <p:cNvSpPr/>
          <p:nvPr/>
        </p:nvSpPr>
        <p:spPr>
          <a:xfrm>
            <a:off x="1600200" y="2103120"/>
            <a:ext cx="548640" cy="5486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8" name="Text 6"/>
          <p:cNvSpPr/>
          <p:nvPr/>
        </p:nvSpPr>
        <p:spPr>
          <a:xfrm>
            <a:off x="1600200" y="21031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283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822960" y="283464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Fork the repo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822960" y="3246120"/>
            <a:ext cx="2103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A8A8C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Clone the Playbook repository</a:t>
            </a:r>
            <a:endParaRPr lang="en-US" sz="13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A8A8C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to your own GitHub.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108960" y="214884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B6B8A"/>
                </a:solidFill>
              </a:rPr>
              <a:t>→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4434840" y="2103120"/>
            <a:ext cx="548640" cy="5486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3" name="Text 11"/>
          <p:cNvSpPr/>
          <p:nvPr/>
        </p:nvSpPr>
        <p:spPr>
          <a:xfrm>
            <a:off x="4434840" y="21031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283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3657600" y="283464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Edit _brand.yml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3657600" y="3246120"/>
            <a:ext cx="2103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A8A8C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Set your colors, fonts,</a:t>
            </a:r>
            <a:endParaRPr lang="en-US" sz="13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A8A8C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logo, and program name.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943600" y="214884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B6B8A"/>
                </a:solidFill>
              </a:rPr>
              <a:t>→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7269480" y="2103120"/>
            <a:ext cx="548640" cy="5486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8" name="Text 16"/>
          <p:cNvSpPr/>
          <p:nvPr/>
        </p:nvSpPr>
        <p:spPr>
          <a:xfrm>
            <a:off x="7269480" y="21031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283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6492240" y="283464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Customize messaging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6492240" y="3246120"/>
            <a:ext cx="2103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A8A8C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Adapt taglines and copy</a:t>
            </a:r>
            <a:endParaRPr lang="en-US" sz="13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A8A8C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for your market.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8778240" y="214884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B6B8A"/>
                </a:solidFill>
              </a:rPr>
              <a:t>→</a:t>
            </a: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10104120" y="2103120"/>
            <a:ext cx="548640" cy="5486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23" name="Text 21"/>
          <p:cNvSpPr/>
          <p:nvPr/>
        </p:nvSpPr>
        <p:spPr>
          <a:xfrm>
            <a:off x="10104120" y="21031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283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9326880" y="283464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Design &amp; deploy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9326880" y="3246120"/>
            <a:ext cx="2103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A8A8C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Generate collateral and</a:t>
            </a:r>
            <a:endParaRPr lang="en-US" sz="13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A8A8C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launch across channels.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0" y="4389120"/>
            <a:ext cx="121889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0B981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playbook.org</a:t>
            </a:r>
            <a:endParaRPr lang="en-US" sz="2800" dirty="0"/>
          </a:p>
        </p:txBody>
      </p:sp>
      <p:sp>
        <p:nvSpPr>
          <p:cNvPr id="27" name="Text 25"/>
          <p:cNvSpPr/>
          <p:nvPr/>
        </p:nvSpPr>
        <p:spPr>
          <a:xfrm>
            <a:off x="0" y="4937760"/>
            <a:ext cx="121889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6B8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Open Source  ·  CC0 Public Domain  ·  No Licensing Fees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0" y="6309360"/>
            <a:ext cx="12188952" cy="548640"/>
          </a:xfrm>
          <a:prstGeom prst="rect">
            <a:avLst/>
          </a:prstGeom>
          <a:solidFill>
            <a:srgbClr val="2A3F56"/>
          </a:solidFill>
          <a:ln/>
        </p:spPr>
      </p:sp>
      <p:sp>
        <p:nvSpPr>
          <p:cNvPr id="29" name="Text 27"/>
          <p:cNvSpPr/>
          <p:nvPr/>
        </p:nvSpPr>
        <p:spPr>
          <a:xfrm>
            <a:off x="548640" y="6355080"/>
            <a:ext cx="1109167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8A8C0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Free, confidential support 24/7 — 1-800-522-4700  •  www.ncpgambling.org/chat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A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2026-07-30T16:26:48Z</dcterms:created>
  <dcterms:modified xsi:type="dcterms:W3CDTF">2026-07-30T16:26:48Z</dcterms:modified>
</cp:coreProperties>
</file>