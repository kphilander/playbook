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RG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0" y="29260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Overview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open standard for responsible gambling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 ·  Social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Engagement Gap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player education is failing — not because the information is wrong, but because nobody reads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EXISTS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Clinical, compliance-driven 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Buried in page footers and legal disclaimers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48386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One-size-fits-all messaging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227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Treated as a regulatory checkbox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3616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Near-zero player engagement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Entertainment-grade production quality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044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Integrated into the player experience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48386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Marketing-driven, not compliance-driven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9227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Personalized and shareable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3616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Content players actually seek out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9904" y="2103120"/>
            <a:ext cx="0" cy="2926080"/>
          </a:xfrm>
          <a:prstGeom prst="line">
            <a:avLst/>
          </a:prstGeom>
          <a:noFill/>
          <a:ln w="12700">
            <a:solidFill>
              <a:srgbClr val="2A3F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Education That Players Actually Want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2A3F5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45920"/>
            <a:ext cx="32918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Woven In, Not Bolted 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Literacy content integrated into the player journey — deposit screens, game lobbies, post-session recaps. Not a buried link in the footer.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2A3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645920"/>
            <a:ext cx="32918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11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Entertainment-Grade 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Social cards, interactive quizzes, myth-buster stories. Produced at the same quality as the gaming product itself.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2A3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1645920"/>
            <a:ext cx="32918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11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White-Label: Your Brand, Our System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Fork the repo. Edit one config file. Deploy under your brand. Open source, CC0 Public Domain — no licensing, no fees.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Brand Pillars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piece of content maps to one or both pillars.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2A3F56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945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fine print."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Transparency is the product. Real odds, honest math,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buried disclaimers.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House edge disclosure for every game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Myth vs. math content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Plain-language odds breakdowns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Bonus wagering explained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2A3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2194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1945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2743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"Worth sharing."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329184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becomes social currency.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Peer learning beats top-down lectures.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Game IQ quizzes and challenges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Shareable myth-buster cards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Friend vs. friend leaderboards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• Community-driven content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Personality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VOICE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Archetype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friend who knows the game.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Confident, not condescending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090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Shares knowledge because they respect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Specific, not sloganeering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30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house edge on American roulette is 5.26%"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Corrects without judgment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Myth-busting without making you feel stupid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Treats gambling as entertainment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010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Neither pro- nor anti-gambling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2A3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645920"/>
            <a:ext cx="54864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VOICE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"Set your deposit limit.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takes 10 seconds.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 on, we'll wait."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420624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2A3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420624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434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VOICE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Warm, supportive register.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Steps in for Tier 2 (support/crisis) content.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5303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"No judgment. Just here if you need us."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Palette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combinations tested for WCAG 2.1 AA contrast compliance.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1B283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Navy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#1B2838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2A3F56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Light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#2A3F56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0F192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Midnight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#0F1923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Emerald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83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#10B981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 Orange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#FF6B35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 SCALE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029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89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#1A1A2E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5029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D3D5C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5989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#3D3D5C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5029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6B6B8A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5989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#6B6B8A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5029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A8A8C0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5989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#A8A8C0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5029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E8F0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5989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#E8E8F0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18320" y="5029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5F5FA"/>
          </a:solidFill>
          <a:ln w="6350">
            <a:solidFill>
              <a:srgbClr val="E8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5989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#F5F5FA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400 Regular  ·  600 Semi  ·  700 Bold  ·  800 Extra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game has math. Here's yours.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 Sans 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300 Light  ·  400 Regular  ·  600 Semi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D3D5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brain sees patterns. The math doesn't. Each spin is statistically independent — the machine has no memory of previous results.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/ STATS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Source Code Pro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400 Regular  ·  600 Semi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743200"/>
            <a:ext cx="4389120" cy="2560320"/>
          </a:xfrm>
          <a:prstGeom prst="roundRect">
            <a:avLst>
              <a:gd name="adj" fmla="val 4286"/>
            </a:avLst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$110 in  →  $100 out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0.5%  ·  2.7%  ·  5.26%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3232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1-800-522-4700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572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Monospace signals factual,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precise information — stats,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odds, and helpline numbers.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669280"/>
            <a:ext cx="10725912" cy="548640"/>
          </a:xfrm>
          <a:prstGeom prst="roundRect">
            <a:avLst>
              <a:gd name="adj" fmla="val 10000"/>
            </a:avLst>
          </a:prstGeom>
          <a:solidFill>
            <a:srgbClr val="F5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 body: 16px digital, 10pt print   ·   Helpline numbers always in monospace bold   ·   All fonts open source (Google Fonts)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&amp; Tone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Specific, not sloganeering. Every word earns its place.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SAY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904" y="1737360"/>
            <a:ext cx="0" cy="4297680"/>
          </a:xfrm>
          <a:prstGeom prst="line">
            <a:avLst/>
          </a:prstGeom>
          <a:noFill/>
          <a:ln w="12700">
            <a:solidFill>
              <a:srgbClr val="2A3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40280"/>
            <a:ext cx="11091672" cy="457200"/>
          </a:xfrm>
          <a:prstGeom prst="rect">
            <a:avLst/>
          </a:prstGeom>
          <a:solidFill>
            <a:srgbClr val="2A3F5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Gambler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Specific behaviors — e.g. 'set a budget', 'know the odds', 'check your session'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Responsible gambling' or 'smart play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solidFill>
            <a:srgbClr val="2A3F5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Tools /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Interventions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Self-assess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1091672" cy="457200"/>
          </a:xfrm>
          <a:prstGeom prst="rect">
            <a:avLst/>
          </a:prstGeom>
          <a:solidFill>
            <a:srgbClr val="2A3F5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Take a break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Self-exclude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limits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Restrictions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Messaging Framework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"Here's how it actually works."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"No fine print. Just facts."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odds are public. Now you know them."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"Every game has math. Here's yours."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"Share the facts."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"Challenge your friends."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best players know the game."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"How well do you really know the odds?"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089904" y="1463040"/>
            <a:ext cx="0" cy="2743200"/>
          </a:xfrm>
          <a:prstGeom prst="line">
            <a:avLst/>
          </a:prstGeom>
          <a:noFill/>
          <a:ln w="12700">
            <a:solidFill>
              <a:srgbClr val="2A3F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72000"/>
            <a:ext cx="10725912" cy="1645920"/>
          </a:xfrm>
          <a:prstGeom prst="roundRect">
            <a:avLst>
              <a:gd name="adj" fmla="val 6667"/>
            </a:avLst>
          </a:prstGeom>
          <a:solidFill>
            <a:srgbClr val="2A3F5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TWO-TIER CONTENT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— 95%  Everyday Play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Odds, myths, how games work. Voice: Playbook voice. Engaging, shareable, fun.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 — 5%  Support &amp; Crisis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Helplines, self-assessment, cooling off. Voice: support voice. Warm, non-judgmental.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Collateral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touchpoint gets equal design investment.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2A3F5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0312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3F56"/>
                </a:solidFill>
              </a:rPr>
              <a:t>◻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Cards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Instagram Feed 1080×1080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Myth-busters, odds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infographics, stat cards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18288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2A3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210312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3F56"/>
                </a:solidFill>
              </a:rPr>
              <a:t>▯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926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Instagram/TikTok 1080×1920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myths, house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edge breakdowns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8288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2A3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210312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3F56"/>
                </a:solidFill>
              </a:rPr>
              <a:t>▮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212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A2 / 18×24"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Venue awareness,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 signage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18288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2A3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0" y="210312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3F56"/>
                </a:solidFill>
              </a:rPr>
              <a:t>✉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498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Responsive HTML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Onboarding, weekly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summaries, nudges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18288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2A3F56"/>
          </a:solidFill>
          <a:ln/>
        </p:spPr>
      </p:sp>
      <p:sp>
        <p:nvSpPr>
          <p:cNvPr id="33" name="Shape 31"/>
          <p:cNvSpPr/>
          <p:nvPr/>
        </p:nvSpPr>
        <p:spPr>
          <a:xfrm>
            <a:off x="9784080" y="210312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0F1923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3F56"/>
                </a:solidFill>
              </a:rPr>
              <a:t>⊞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978408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Components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7840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In-App Widgets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8408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Deposit limits, session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timers, quizzes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Brand. Our System.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config file. Infinite operator brands.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B2838"/>
          </a:solidFill>
          <a:ln w="6350">
            <a:solidFill>
              <a:srgbClr val="2A3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28800"/>
            <a:ext cx="3383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LuckyDraw Casino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60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game 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layout pattern.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brand.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6350">
            <a:solidFill>
              <a:srgbClr val="2A3F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1828800"/>
            <a:ext cx="3383280" cy="36576"/>
          </a:xfrm>
          <a:prstGeom prst="rect">
            <a:avLst/>
          </a:prstGeom>
          <a:solidFill>
            <a:srgbClr val="7C6A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BetSmart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7C6A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560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game 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layout pattern.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brand.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0D2818"/>
          </a:solidFill>
          <a:ln w="6350">
            <a:solidFill>
              <a:srgbClr val="2A3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828800"/>
            <a:ext cx="338328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GreenField Gaming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256032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25603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28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50392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game 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Same layout pattern.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brand.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CUSTOMIZE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Colors and gradients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330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Fonts and type 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678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Logo and program name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6025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Taglines and CTA copy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373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Helpline numbers and jurisdiction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KEEP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Layout patterns and hierarchy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5330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Voice framework and tone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5678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Content structure (pillars, tiers)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6025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Accessibility standards (WCAG 2.1 AA)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6373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 Proven engagement patterns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059936" y="0"/>
            <a:ext cx="4069080" cy="50292"/>
          </a:xfrm>
          <a:prstGeom prst="rect">
            <a:avLst/>
          </a:prstGeom>
          <a:solidFill>
            <a:srgbClr val="FF8A5C"/>
          </a:solidFill>
          <a:ln/>
        </p:spPr>
      </p:sp>
      <p:sp>
        <p:nvSpPr>
          <p:cNvPr id="5" name="Shape 3"/>
          <p:cNvSpPr/>
          <p:nvPr/>
        </p:nvSpPr>
        <p:spPr>
          <a:xfrm>
            <a:off x="5074920" y="0"/>
            <a:ext cx="3054096" cy="5029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7315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Building.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600200" y="2103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 the repo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Clone the Playbook repository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your own GitHub.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8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_brand.yml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your colors, fonts,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logo, and program name.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8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69480" y="2103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 messaging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 taglines and copy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your market.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0" y="2148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8A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04120" y="2103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1041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8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2688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deploy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3246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collateral and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A8C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launch across channels.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0" y="4389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playbook.org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Source  ·  CC0 Public Domain  ·  No Licensing Fees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A3F5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355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Free, confidential support 24/7 — 1-800-522-4700  •  www.ncpgambling.org/chat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2026-10-31T21:26:41Z</dcterms:created>
  <dcterms:modified xsi:type="dcterms:W3CDTF">2026-10-31T21:26:41Z</dcterms:modified>
</cp:coreProperties>
</file>