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0" y="292608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Overview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749040"/>
            <a:ext cx="9445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Gambling Entertainment Literacy — A White-Label Brand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0" y="53035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 ·  Social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Engagement Gap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Current player education is failing — not because the information is wrong, but because nobody reads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EXISTS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Clinical, compliance-driven language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Buried in page footers and legal disclaimers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48386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One-size-fits-all messaging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392277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Treated as a regulatory checkbox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36168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Near-zero player engagement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NEEDED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260604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Entertainment-grade production quality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044952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Integrated into the player experience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348386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Marketing-driven, not compliance-driven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92240" y="392277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Personalized and shareable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436168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Content players actually seek out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89904" y="2103120"/>
            <a:ext cx="0" cy="292608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 Education That Players Actually Want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645920"/>
            <a:ext cx="32918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Woven In, Not Bolted 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058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Literacy content integrated into the player journey — deposit screens, game lobbies, post-session recaps. Not a buried link in the footer.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1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1645920"/>
            <a:ext cx="3291840" cy="457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Entertainment-Grade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Social cards, interactive quizzes, myth-buster stories. Produced at the same quality as the gaming product itself.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6459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2A3F56"/>
          </a:solidFill>
          <a:ln/>
        </p:spPr>
      </p:sp>
      <p:sp>
        <p:nvSpPr>
          <p:cNvPr id="16" name="Shape 14"/>
          <p:cNvSpPr/>
          <p:nvPr/>
        </p:nvSpPr>
        <p:spPr>
          <a:xfrm>
            <a:off x="8092440" y="1645920"/>
            <a:ext cx="3291840" cy="4572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White-Label: Your Brand, Our System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283464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Fork the repo. Edit one config file. Deploy under your brand. Open source, CC0 Public Domain — no licensing, no fees.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Brand Pillars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143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piece of content maps to one or both pillars.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4937760" cy="4114800"/>
          </a:xfrm>
          <a:prstGeom prst="roundRect">
            <a:avLst>
              <a:gd name="adj" fmla="val 2667"/>
            </a:avLst>
          </a:prstGeom>
          <a:solidFill>
            <a:srgbClr val="2A3F56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1945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194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"No fine print."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4206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Transparency is the product. Real odds, honest math,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buried disclaimers.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House edge disclosure for every game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Myth vs. math content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Plain-language odds breakdowns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Bonus wagering explained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828800"/>
            <a:ext cx="4937760" cy="4114800"/>
          </a:xfrm>
          <a:prstGeom prst="roundRect">
            <a:avLst>
              <a:gd name="adj" fmla="val 2667"/>
            </a:avLst>
          </a:prstGeom>
          <a:solidFill>
            <a:srgbClr val="2A3F56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0" y="21945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219456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0" y="274320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"Worth sharing."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766560" y="3291840"/>
            <a:ext cx="4206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Knowledge becomes social currency.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Peer learning beats top-down lectures.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Game IQ quizzes and challenges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Shareable myth-buster cards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Friend vs. friend leaderboards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• Community-driven content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Personality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Primary Archetype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friend who knows the game.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Confident, not condescending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Shares knowledge because they respect you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Specific, not sloganeering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7307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house edge on American roulette is 5.26%"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Corrects without judgment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43708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Myth-busting without making you feel stupid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754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Treats gambling as entertainment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50109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Neither pro- nor anti-gambling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2A3F5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1645920"/>
            <a:ext cx="54864" cy="21945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19202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SHARP VOICE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2286000"/>
            <a:ext cx="4389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"Set your deposit limit.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It takes 10 seconds.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Go on, we'll wait."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20624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2A3F5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4206240"/>
            <a:ext cx="54864" cy="1828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44348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FRIEND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47548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Secondary archetype — warm, supportive.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Steps in for Tier 2 (support/crisis) content.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5303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"No judgment. Just here if you need us."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Palette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All combinations tested for WCAG 2.1 AA contrast compliance.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1B283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Navy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#1B2838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2608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2A3F56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Light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#2A3F56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2064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0F1923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Dark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Midnight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#0F1923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Electric Teal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838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#00D4AA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509760" y="18288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9509760" y="20116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Bold Orange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509760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#FF6B35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NEUTRAL SCALE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#1A1A2E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46888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3D3D5C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6888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#3D3D5C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0624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6B6B8A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#6B6B8A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A8A8C0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#A8A8C0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8096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E8E8F0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#E8E8F0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418320" y="5029200"/>
            <a:ext cx="1463040" cy="914400"/>
          </a:xfrm>
          <a:prstGeom prst="roundRect">
            <a:avLst>
              <a:gd name="adj" fmla="val 8000"/>
            </a:avLst>
          </a:prstGeom>
          <a:solidFill>
            <a:srgbClr val="F5F5FA"/>
          </a:solidFill>
          <a:ln w="6350">
            <a:solidFill>
              <a:srgbClr val="E8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18320" y="5989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#F5F5FA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Typography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HEADINGS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400 Regular  ·  600 Semi  ·  700 Bold  ·  800 Extra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97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game has math. Here's yours.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Source Sans 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1520" y="4297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300 Light  ·  400 Regular  ·  600 Semi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6634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D3D5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Your brain sees patterns. The math doesn't. Each spin is statistically independent — the machine has no memory of previous results.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1463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6B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/ STATS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Source Code Pro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0" y="2286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400 Regular  ·  600 Semi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0" y="2743200"/>
            <a:ext cx="4389120" cy="2560320"/>
          </a:xfrm>
          <a:prstGeom prst="roundRect">
            <a:avLst>
              <a:gd name="adj" fmla="val 4286"/>
            </a:avLst>
          </a:prstGeom>
          <a:solidFill>
            <a:srgbClr val="1B2838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3017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$110 in  →  $100 out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32320" y="3566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0.5%  ·  2.7%  ·  5.26%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132320" y="41148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1-800-522-4700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457200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Monospace signals factual,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precise information — stats,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odds, and helpline numbers.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5669280"/>
            <a:ext cx="10725912" cy="548640"/>
          </a:xfrm>
          <a:prstGeom prst="roundRect">
            <a:avLst>
              <a:gd name="adj" fmla="val 10000"/>
            </a:avLst>
          </a:prstGeom>
          <a:solidFill>
            <a:srgbClr val="F5F5F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6692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Min body: 16px digital, 10pt print   ·   Helpline numbers always in monospace bold   ·   All fonts open source (Google Fonts)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&amp; Tone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Specific, not sloganeering. Every word earns its place.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SAY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SAY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9904" y="1737360"/>
            <a:ext cx="0" cy="429768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24028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40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240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Gambler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Set a budget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Responsible gambling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Know the odds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Smart play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Tools / features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Interventions / measures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51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Check in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0" y="4251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Self-assess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31520" y="4754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Take a break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4754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Self-exclude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257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Your limits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00800" y="5257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Restrictions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1520" y="5760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Entertainment budget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00800" y="5760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trike="sngStrike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Losses / spending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Messaging Framework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630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"Here's how it actually works."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"No fine print. Just facts."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"Every game has math. Here's yours."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474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odds are public. Now you know them."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0" y="14630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630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1965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"Share the facts. Start a conversation."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0" y="2468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"Challenge your friends."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0" y="2971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"How well do you really know the odds?"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"Worth sharing."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089904" y="1463040"/>
            <a:ext cx="0" cy="2743200"/>
          </a:xfrm>
          <a:prstGeom prst="line">
            <a:avLst/>
          </a:prstGeom>
          <a:noFill/>
          <a:ln w="12700">
            <a:solidFill>
              <a:srgbClr val="2A3F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72000"/>
            <a:ext cx="10725912" cy="1645920"/>
          </a:xfrm>
          <a:prstGeom prst="roundRect">
            <a:avLst>
              <a:gd name="adj" fmla="val 6667"/>
            </a:avLst>
          </a:prstGeom>
          <a:solidFill>
            <a:srgbClr val="2A3F56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TWO-TIER CONTENT MODEL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5166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1 — 95%  Entertainment Literacy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9728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Odds, myths, how games work. Voice: The Sharp. Engaging, shareable, fun.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5166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2 — 5%  Support &amp; Crisis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Helplines, self-assessment, cooling off. Voice: The Good Friend. Warm, non-judgmental.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Collateral System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touchpoint gets equal design investment.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◻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Cards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Instagram Feed 1080×1080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Myth-busters, odds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infographics, stat cards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15" name="Shape 13"/>
          <p:cNvSpPr/>
          <p:nvPr/>
        </p:nvSpPr>
        <p:spPr>
          <a:xfrm>
            <a:off x="2926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▯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2926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Stories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Instagram/TikTok 1080×1920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26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Quick myths, house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edge breakdowns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21" name="Shape 19"/>
          <p:cNvSpPr/>
          <p:nvPr/>
        </p:nvSpPr>
        <p:spPr>
          <a:xfrm>
            <a:off x="5212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▮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212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Posters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12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A2 / 18×24"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12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Venue awareness,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event signage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✉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498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498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Responsive HTML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98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Onboarding, weekly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summaries, nudges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601200" y="1828800"/>
            <a:ext cx="2011680" cy="3840480"/>
          </a:xfrm>
          <a:prstGeom prst="roundRect">
            <a:avLst>
              <a:gd name="adj" fmla="val 5455"/>
            </a:avLst>
          </a:prstGeom>
          <a:solidFill>
            <a:srgbClr val="2A3F56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4080" y="2103120"/>
            <a:ext cx="1645920" cy="1463040"/>
          </a:xfrm>
          <a:prstGeom prst="roundRect">
            <a:avLst>
              <a:gd name="adj" fmla="val 5000"/>
            </a:avLst>
          </a:prstGeom>
          <a:solidFill>
            <a:srgbClr val="0F1923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0" y="228600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3F56"/>
                </a:solidFill>
              </a:rPr>
              <a:t>⊞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978408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Components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784080" y="4069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In-App Widgets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784080" y="44805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Deposit limits, session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timers, quizzes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Brand. Our System.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One config file. Infinite operator brands.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B2838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828800"/>
            <a:ext cx="338328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LuckyDraw Casino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0584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00584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1A1A2E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26280" y="1828800"/>
            <a:ext cx="3383280" cy="36576"/>
          </a:xfrm>
          <a:prstGeom prst="rect">
            <a:avLst/>
          </a:prstGeom>
          <a:solidFill>
            <a:srgbClr val="7C6A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BetSmart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7C6AFF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5488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1828800"/>
            <a:ext cx="3474720" cy="2286000"/>
          </a:xfrm>
          <a:prstGeom prst="roundRect">
            <a:avLst>
              <a:gd name="adj" fmla="val 4800"/>
            </a:avLst>
          </a:prstGeom>
          <a:solidFill>
            <a:srgbClr val="0D2818"/>
          </a:solidFill>
          <a:ln w="6350">
            <a:solidFill>
              <a:srgbClr val="2A3F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1828800"/>
            <a:ext cx="3383280" cy="3657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4" name="Text 22"/>
          <p:cNvSpPr/>
          <p:nvPr/>
        </p:nvSpPr>
        <p:spPr>
          <a:xfrm>
            <a:off x="850392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GreenField Gaming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03920" y="256032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256032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28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503920" y="2926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C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game →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0392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Same layout pattern.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Different brand.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CUSTOMIZE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4983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Colors and gradients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5330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Fonts and type scale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" y="567842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Logo and program name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" y="602589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Taglines and CTA copy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3733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Helpline numbers and jurisdiction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572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KEEP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983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Layout patterns and hierarchy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5330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Voice framework and tone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78424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Content structure (pillars, tiers)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602589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Accessibility standards (WCAG 2.1 AA)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0" y="637336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→  Proven engagement patterns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502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Shape 2"/>
          <p:cNvSpPr/>
          <p:nvPr/>
        </p:nvSpPr>
        <p:spPr>
          <a:xfrm>
            <a:off x="4059936" y="0"/>
            <a:ext cx="4069080" cy="50292"/>
          </a:xfrm>
          <a:prstGeom prst="rect">
            <a:avLst/>
          </a:prstGeom>
          <a:solidFill>
            <a:srgbClr val="FF8A5C"/>
          </a:solidFill>
          <a:ln/>
        </p:spPr>
      </p:sp>
      <p:sp>
        <p:nvSpPr>
          <p:cNvPr id="5" name="Shape 3"/>
          <p:cNvSpPr/>
          <p:nvPr/>
        </p:nvSpPr>
        <p:spPr>
          <a:xfrm>
            <a:off x="5074920" y="0"/>
            <a:ext cx="3054096" cy="50292"/>
          </a:xfrm>
          <a:prstGeom prst="rect">
            <a:avLst/>
          </a:prstGeom>
          <a:solidFill>
            <a:srgbClr val="00A888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7315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Building.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1600200" y="2103120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Fork the repo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Clone the Playbook repository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 your own GitHub.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434840" y="2103120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_brand.yml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Set your colors, fonts,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logo, and program name.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269480" y="2103120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9224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Customize messaging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Adapt taglines and copy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 your market.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78240" y="2148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8A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0104120" y="2103120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3" name="Text 21"/>
          <p:cNvSpPr/>
          <p:nvPr/>
        </p:nvSpPr>
        <p:spPr>
          <a:xfrm>
            <a:off x="1010412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83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0" y="2834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&amp; deploy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32688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Generate collateral and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8A8C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launch across channels.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0" y="43891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playbook.org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 Source  ·  CC0 Public Domain  ·  No Licensing Fees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2A3F5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635508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Free, confidential support 24/7 — [HELPLINE NUMBER]  •  [CHAT URL]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A"/>
                </a:solidFill>
                <a:latin typeface="Source Code Pro" pitchFamily="34" charset="0"/>
                <a:ea typeface="Source Code Pro" pitchFamily="34" charset="-122"/>
                <a:cs typeface="Source Code Pr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2026-02-20T21:09:27Z</dcterms:created>
  <dcterms:modified xsi:type="dcterms:W3CDTF">2026-02-20T21:09:27Z</dcterms:modified>
</cp:coreProperties>
</file>